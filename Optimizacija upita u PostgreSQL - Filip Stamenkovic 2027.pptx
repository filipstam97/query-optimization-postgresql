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Space Grotesk Light"/>
      <p:regular r:id="rId29"/>
      <p:bold r:id="rId30"/>
    </p:embeddedFont>
    <p:embeddedFont>
      <p:font typeface="Space Grotesk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D4E92D-3D63-4749-B15D-7B43523D5107}">
  <a:tblStyle styleId="{45D4E92D-3D63-4749-B15D-7B43523D51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regular.fntdata"/><Relationship Id="rId30" Type="http://schemas.openxmlformats.org/officeDocument/2006/relationships/font" Target="fonts/SpaceGrotesk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d1ebdf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d1ebdf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d1ebdf7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9d1ebdf7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d1ebdf7c5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d1ebdf7c5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d1ebdf7c5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d1ebdf7c5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d1ebdf7c5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9d1ebdf7c5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d1ebdf7c5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9d1ebdf7c5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df64a4a6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df64a4a6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d93737e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9d93737e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d93737e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d93737e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d1ebdf7c5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9d1ebdf7c5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d1ebdf7c5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d1ebdf7c5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d1ebdf7c5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9d1ebdf7c5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df64a4a6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bdf64a4a6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85f78a35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f85f78a35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85f78a3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85f78a3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85f78a35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f85f78a35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85f78a35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85f78a35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85f78a35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f85f78a35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8252100" cy="196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</a:rPr>
              <a:t>Optimizacija upita u PostgreSQL</a:t>
            </a:r>
            <a:endParaRPr sz="50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</p:txBody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2027 Filip Stamenković</a:t>
            </a:r>
            <a:endParaRPr/>
          </a:p>
        </p:txBody>
      </p:sp>
      <p:pic>
        <p:nvPicPr>
          <p:cNvPr id="321" name="Google Shape;321;p38"/>
          <p:cNvPicPr preferRelativeResize="0"/>
          <p:nvPr/>
        </p:nvPicPr>
        <p:blipFill rotWithShape="1">
          <a:blip r:embed="rId3">
            <a:alphaModFix/>
          </a:blip>
          <a:srcRect b="-17288" l="0" r="-17288" t="0"/>
          <a:stretch/>
        </p:blipFill>
        <p:spPr>
          <a:xfrm>
            <a:off x="4388102" y="2249301"/>
            <a:ext cx="4520401" cy="221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425" y="1381475"/>
            <a:ext cx="1369225" cy="14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Uvod i motivacija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9"/>
          <p:cNvSpPr txBox="1"/>
          <p:nvPr>
            <p:ph idx="4294967295" type="body"/>
          </p:nvPr>
        </p:nvSpPr>
        <p:spPr>
          <a:xfrm>
            <a:off x="177675" y="769650"/>
            <a:ext cx="55056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Performanse SQL upita značajno utiču na performanse celog sistema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Isti rezultat moguće je dobiti različitim planovima izvršavanja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Zadatak optimizatora je izbor plana sa najnižim procenjenim troškom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29" name="Google Shape;3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925" y="2627350"/>
            <a:ext cx="4609524" cy="21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 obrade SQL upita </a:t>
            </a:r>
            <a:endParaRPr/>
          </a:p>
        </p:txBody>
      </p:sp>
      <p:sp>
        <p:nvSpPr>
          <p:cNvPr id="335" name="Google Shape;335;p40"/>
          <p:cNvSpPr txBox="1"/>
          <p:nvPr>
            <p:ph idx="4294967295" type="body"/>
          </p:nvPr>
        </p:nvSpPr>
        <p:spPr>
          <a:xfrm>
            <a:off x="228600" y="1177425"/>
            <a:ext cx="44058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SQL upit pre izvršavanja prolazi kroz više faza obrade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Parser proverava sintaksu i formira internu reprezentaciju upita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Rewriter vrši transformacije početnog upita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Planner / Optimizer razmatra moguće načine izvršavanja i bira odgovarajući plan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Executor izvršava izabrani plan i generiše rezultat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36" name="Google Shape;33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000" y="177900"/>
            <a:ext cx="4087001" cy="205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0732" y="2615850"/>
            <a:ext cx="4297555" cy="20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"/>
          <p:cNvSpPr txBox="1"/>
          <p:nvPr>
            <p:ph type="title"/>
          </p:nvPr>
        </p:nvSpPr>
        <p:spPr>
          <a:xfrm>
            <a:off x="212450" y="177900"/>
            <a:ext cx="64176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PostgreSQL planer i cost-based optimizacija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1"/>
          <p:cNvSpPr txBox="1"/>
          <p:nvPr>
            <p:ph idx="4294967295" type="body"/>
          </p:nvPr>
        </p:nvSpPr>
        <p:spPr>
          <a:xfrm>
            <a:off x="228600" y="1177425"/>
            <a:ext cx="53562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Planer razmatra različite moguće planove izvršavanja upita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Svakom planu dodeljuje se procenjeni trošak (cost)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 opštem slučaju bira se plan sa najnižim procenjenim ukupnim troškom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Procena uključuje troškove I/O operacija, CPU obrade i obrade redova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Cost nije vreme u milisekundama, već relativna vrednost za poređenje planova</a:t>
            </a:r>
            <a:endParaRPr sz="1400"/>
          </a:p>
        </p:txBody>
      </p:sp>
      <p:pic>
        <p:nvPicPr>
          <p:cNvPr id="344" name="Google Shape;34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7775" y="1424700"/>
            <a:ext cx="3254400" cy="52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1463" y="2363450"/>
            <a:ext cx="3407025" cy="11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2"/>
          <p:cNvSpPr txBox="1"/>
          <p:nvPr>
            <p:ph type="title"/>
          </p:nvPr>
        </p:nvSpPr>
        <p:spPr>
          <a:xfrm>
            <a:off x="212450" y="177900"/>
            <a:ext cx="64488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Statistike, selektivnost i procena kardinalnosti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2"/>
          <p:cNvSpPr txBox="1"/>
          <p:nvPr>
            <p:ph idx="4294967295" type="body"/>
          </p:nvPr>
        </p:nvSpPr>
        <p:spPr>
          <a:xfrm>
            <a:off x="62925" y="833650"/>
            <a:ext cx="5292900" cy="41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koristi statistike o podacima za procenu troškova planova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Selektivnost predstavlja procenat redova koji zadovoljava određeni uslov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Kardinalnost predstavlja procenjeni broj redova koji prolazi kroz operator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Statistike se prikupljaju i ažuriraju pomoću komande ANALYZE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Netačne procene mogu dovesti do izbora neefikasnog plana</a:t>
            </a:r>
            <a:endParaRPr sz="1400"/>
          </a:p>
        </p:txBody>
      </p:sp>
      <p:pic>
        <p:nvPicPr>
          <p:cNvPr id="352" name="Google Shape;35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3650" y="1008425"/>
            <a:ext cx="23241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3650" y="1983625"/>
            <a:ext cx="220027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3"/>
          <p:cNvSpPr txBox="1"/>
          <p:nvPr>
            <p:ph type="title"/>
          </p:nvPr>
        </p:nvSpPr>
        <p:spPr>
          <a:xfrm>
            <a:off x="212450" y="177900"/>
            <a:ext cx="818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i EXPLAIN ANALYZE </a:t>
            </a:r>
            <a:endParaRPr/>
          </a:p>
        </p:txBody>
      </p:sp>
      <p:sp>
        <p:nvSpPr>
          <p:cNvPr id="359" name="Google Shape;359;p43"/>
          <p:cNvSpPr txBox="1"/>
          <p:nvPr>
            <p:ph idx="4294967295" type="body"/>
          </p:nvPr>
        </p:nvSpPr>
        <p:spPr>
          <a:xfrm>
            <a:off x="212450" y="854675"/>
            <a:ext cx="85251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EXPLAIN prikazuje plan izvršavanja i procene PostgreSQL planera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EXPLAIN ANALYZE stvarno izvršava upit i prikazuje rezultate izvršavanja (problem bezbednosti)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Omogućava poređenje procenjenog i stvarnog broja redova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Prikazuje actual time, rows i loops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Koristi se za identifikovanje skupih operacija i potencijalnih uskih grla</a:t>
            </a:r>
            <a:endParaRPr sz="1400"/>
          </a:p>
        </p:txBody>
      </p:sp>
      <p:pic>
        <p:nvPicPr>
          <p:cNvPr id="360" name="Google Shape;36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63" y="2723575"/>
            <a:ext cx="252412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0850" y="2256697"/>
            <a:ext cx="4774175" cy="243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4"/>
          <p:cNvSpPr txBox="1"/>
          <p:nvPr>
            <p:ph type="title"/>
          </p:nvPr>
        </p:nvSpPr>
        <p:spPr>
          <a:xfrm>
            <a:off x="212450" y="177900"/>
            <a:ext cx="81870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Scan, Index Scan i Index Only Scan </a:t>
            </a:r>
            <a:endParaRPr/>
          </a:p>
        </p:txBody>
      </p:sp>
      <p:sp>
        <p:nvSpPr>
          <p:cNvPr id="367" name="Google Shape;367;p44"/>
          <p:cNvSpPr txBox="1"/>
          <p:nvPr>
            <p:ph idx="4294967295" type="body"/>
          </p:nvPr>
        </p:nvSpPr>
        <p:spPr>
          <a:xfrm>
            <a:off x="212450" y="1171300"/>
            <a:ext cx="85251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Sequential Scan</a:t>
            </a:r>
            <a:r>
              <a:rPr lang="en" sz="1400"/>
              <a:t> — sekvencijalno čitanje tabele i provera redova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Index Scan</a:t>
            </a:r>
            <a:r>
              <a:rPr lang="en" sz="1400"/>
              <a:t> — korišćenje indeksa za pronalaženje odgovarajućih redova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Index Only Scan</a:t>
            </a:r>
            <a:r>
              <a:rPr lang="en" sz="1400"/>
              <a:t> — potrebni podaci se mogu pronaći direktno u indeksu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Izbor zavisi od selektivnosti, statistika, dostupnih indeksa i količine podataka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 sz="1400"/>
              <a:t>Sequential Scan nije nužno loš</a:t>
            </a:r>
            <a:r>
              <a:rPr lang="en" sz="1400"/>
              <a:t> — može biti optimalan kada se obrađuje veliki deo tabele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68" name="Google Shape;3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" y="3343263"/>
            <a:ext cx="64389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550" y="4149800"/>
            <a:ext cx="624840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/>
          <p:nvPr>
            <p:ph type="title"/>
          </p:nvPr>
        </p:nvSpPr>
        <p:spPr>
          <a:xfrm>
            <a:off x="212450" y="177900"/>
            <a:ext cx="8548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algoritmi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5"/>
          <p:cNvSpPr txBox="1"/>
          <p:nvPr>
            <p:ph idx="4294967295" type="body"/>
          </p:nvPr>
        </p:nvSpPr>
        <p:spPr>
          <a:xfrm>
            <a:off x="212450" y="964875"/>
            <a:ext cx="40314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Nested Loop — za svaki red jednog skupa traži odgovarajuće redove u drugom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Hash Join — koristi hash strukturu za povezivanje većih skupova podataka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Merge Join — povezuje uređene skupove paralelnim prolaskom kroz njih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Izbor zavisi od veličine skupova, dostupnih indeksa i procenjene kardinalnosti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 postoji JOIN algoritam koji je optimalan u svim situacijama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76" name="Google Shape;37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3850" y="1340640"/>
            <a:ext cx="4815299" cy="2300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6"/>
          <p:cNvSpPr txBox="1"/>
          <p:nvPr>
            <p:ph type="title"/>
          </p:nvPr>
        </p:nvSpPr>
        <p:spPr>
          <a:xfrm>
            <a:off x="212450" y="177900"/>
            <a:ext cx="74715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Tehnike optimizacije upita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6"/>
          <p:cNvSpPr txBox="1"/>
          <p:nvPr>
            <p:ph idx="4294967295" type="body"/>
          </p:nvPr>
        </p:nvSpPr>
        <p:spPr>
          <a:xfrm>
            <a:off x="212450" y="1248275"/>
            <a:ext cx="51687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Korišćenje indeksa — efikasniji pristup selektivnim podacima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Composite indeksi — optimizacija upita koji filtriraju po više kolona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Optimizacija JOIN operacija — indeksi nad kolonama za povezivanje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Query rewriting — preformulisanje upita radi efikasnijeg korišćenja indeksa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ANALYZE i statistike — preciznije procene PostgreSQL planera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"/>
          <p:cNvSpPr txBox="1"/>
          <p:nvPr>
            <p:ph type="title"/>
          </p:nvPr>
        </p:nvSpPr>
        <p:spPr>
          <a:xfrm>
            <a:off x="212450" y="177900"/>
            <a:ext cx="77646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Praktični deo: testno okruženje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7"/>
          <p:cNvSpPr txBox="1"/>
          <p:nvPr>
            <p:ph idx="4294967295" type="body"/>
          </p:nvPr>
        </p:nvSpPr>
        <p:spPr>
          <a:xfrm>
            <a:off x="228600" y="825800"/>
            <a:ext cx="56307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baza pokrenuta u Docker kontejneru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Testna baza predstavlja pojednostavljeni e-commerce sistem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Podaci generisani pomoću PostgreSQL funkcije generate_series()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Nakon generisanja podataka izvršen je ANALYZE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Performanse analizirane pomoću EXPLAIN ANALYZE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89" name="Google Shape;38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9900" y="2404425"/>
            <a:ext cx="5287800" cy="13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0625" y="3848325"/>
            <a:ext cx="3980701" cy="12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8"/>
          <p:cNvSpPr txBox="1"/>
          <p:nvPr>
            <p:ph type="title"/>
          </p:nvPr>
        </p:nvSpPr>
        <p:spPr>
          <a:xfrm>
            <a:off x="212450" y="177900"/>
            <a:ext cx="77646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Eksperiment 1: Uticaj B-tree indeksa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8"/>
          <p:cNvSpPr txBox="1"/>
          <p:nvPr>
            <p:ph idx="4294967295" type="body"/>
          </p:nvPr>
        </p:nvSpPr>
        <p:spPr>
          <a:xfrm>
            <a:off x="212450" y="957000"/>
            <a:ext cx="8037600" cy="4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97" name="Google Shape;3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88" y="1219600"/>
            <a:ext cx="258127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6750" y="643925"/>
            <a:ext cx="4691525" cy="215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438" y="3514525"/>
            <a:ext cx="303847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6750" y="2723738"/>
            <a:ext cx="4691526" cy="241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9"/>
          <p:cNvSpPr txBox="1"/>
          <p:nvPr>
            <p:ph type="title"/>
          </p:nvPr>
        </p:nvSpPr>
        <p:spPr>
          <a:xfrm>
            <a:off x="212450" y="177900"/>
            <a:ext cx="76200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Eksperiment 2: Jednokolonski i višekolonski indeks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" y="1151075"/>
            <a:ext cx="356235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3425" y="536225"/>
            <a:ext cx="4093926" cy="24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450" y="3373200"/>
            <a:ext cx="339090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3425" y="2886296"/>
            <a:ext cx="4093926" cy="225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>
            <p:ph type="title"/>
          </p:nvPr>
        </p:nvSpPr>
        <p:spPr>
          <a:xfrm>
            <a:off x="212450" y="177900"/>
            <a:ext cx="76200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Eksperiment 3: Uticaj načina pisanja upita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9050"/>
            <a:ext cx="31718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46800"/>
            <a:ext cx="364807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050" y="617275"/>
            <a:ext cx="4131250" cy="213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50" y="3399325"/>
            <a:ext cx="40345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7050" y="2756044"/>
            <a:ext cx="4301300" cy="2387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212450" y="177900"/>
            <a:ext cx="85263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Eksperiment 4: Optimizacija JOIN operacije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5" name="Google Shape;42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00" y="782775"/>
            <a:ext cx="3595949" cy="281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676275"/>
            <a:ext cx="41052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1"/>
          <p:cNvSpPr txBox="1"/>
          <p:nvPr/>
        </p:nvSpPr>
        <p:spPr>
          <a:xfrm>
            <a:off x="4052163" y="4460925"/>
            <a:ext cx="46866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Vreme izvršavanja smanjeno je sa 187.772 ms na 0.887 ms.</a:t>
            </a:r>
            <a:endParaRPr b="1"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746550"/>
            <a:ext cx="31813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9475" y="2756200"/>
            <a:ext cx="4968475" cy="1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2"/>
          <p:cNvSpPr txBox="1"/>
          <p:nvPr>
            <p:ph type="title"/>
          </p:nvPr>
        </p:nvSpPr>
        <p:spPr>
          <a:xfrm>
            <a:off x="212450" y="177900"/>
            <a:ext cx="76200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Eksperiment 5: Selektivnost i izbor plana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3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00" y="735575"/>
            <a:ext cx="296227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0875" y="611752"/>
            <a:ext cx="4642425" cy="23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525" y="3406577"/>
            <a:ext cx="2505075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6700" y="3118552"/>
            <a:ext cx="58293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3"/>
          <p:cNvSpPr txBox="1"/>
          <p:nvPr>
            <p:ph type="title"/>
          </p:nvPr>
        </p:nvSpPr>
        <p:spPr>
          <a:xfrm>
            <a:off x="212450" y="177900"/>
            <a:ext cx="67398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Pregled rezultata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44" name="Google Shape;444;p53"/>
          <p:cNvGraphicFramePr/>
          <p:nvPr/>
        </p:nvGraphicFramePr>
        <p:xfrm>
          <a:off x="212450" y="91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{45D4E92D-3D63-4749-B15D-7B43523D5107}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Eksperiment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Posle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Poboljšanje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B-tree indeks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18.607 ms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0.656 ms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~28×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Composite indeks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0.631 ms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0.119 ms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~5.3×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Query rewriting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32.373 ms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5.666 ms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~5.7×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JOIN indeks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187.772 ms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0.887 ms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~212×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5" name="Google Shape;445;p53"/>
          <p:cNvSpPr txBox="1"/>
          <p:nvPr/>
        </p:nvSpPr>
        <p:spPr>
          <a:xfrm>
            <a:off x="212450" y="3144625"/>
            <a:ext cx="48603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Indeksi su značajno smanjili količinu podataka koju je potrebno obraditi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Struktura indeksa i način pisanja upita direktno utiču na plan izvršavanja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Najveće ubrzanje ostvareno je optimizacijom JOIN operacije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4"/>
          <p:cNvSpPr txBox="1"/>
          <p:nvPr>
            <p:ph type="title"/>
          </p:nvPr>
        </p:nvSpPr>
        <p:spPr>
          <a:xfrm>
            <a:off x="212450" y="177900"/>
            <a:ext cx="74715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Zaključak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4"/>
          <p:cNvSpPr txBox="1"/>
          <p:nvPr>
            <p:ph idx="4294967295" type="body"/>
          </p:nvPr>
        </p:nvSpPr>
        <p:spPr>
          <a:xfrm>
            <a:off x="212450" y="780850"/>
            <a:ext cx="5168700" cy="4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bira plan izvršavanja na osnovu procenjenih troškova i statistika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Efikasnost plana zavisi od količine i distribucije podataka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Indeksi mogu značajno poboljšati performanse, ali nisu uvek optimalno rešenje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EXPLAIN ANALYZE omogućava identifikovanje problema i proveru efekata optimizacije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Optimizacija upita je kontinuiran proces analize, izmene i merenja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